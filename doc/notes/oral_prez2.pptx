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59" r:id="rId5"/>
    <p:sldId id="297" r:id="rId6"/>
    <p:sldId id="318" r:id="rId7"/>
    <p:sldId id="319" r:id="rId8"/>
    <p:sldId id="296" r:id="rId9"/>
    <p:sldId id="298" r:id="rId10"/>
    <p:sldId id="299" r:id="rId11"/>
    <p:sldId id="300" r:id="rId12"/>
    <p:sldId id="320" r:id="rId13"/>
    <p:sldId id="302" r:id="rId14"/>
    <p:sldId id="304" r:id="rId15"/>
    <p:sldId id="321" r:id="rId16"/>
    <p:sldId id="303" r:id="rId17"/>
    <p:sldId id="305" r:id="rId18"/>
    <p:sldId id="306" r:id="rId19"/>
    <p:sldId id="307" r:id="rId20"/>
    <p:sldId id="308" r:id="rId21"/>
    <p:sldId id="309" r:id="rId22"/>
    <p:sldId id="322" r:id="rId23"/>
    <p:sldId id="310" r:id="rId24"/>
    <p:sldId id="311" r:id="rId25"/>
    <p:sldId id="312" r:id="rId26"/>
    <p:sldId id="313" r:id="rId27"/>
    <p:sldId id="314" r:id="rId28"/>
    <p:sldId id="323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0C37BD-E025-50BF-ABAF-5168386DF47A}" name="Rocco, Mila" initials="RM" userId="S::mrocco511@headmind.com::53ccab19-a916-4d94-842a-76ccf24b86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0000"/>
    <a:srgbClr val="00B0F0"/>
    <a:srgbClr val="003057"/>
    <a:srgbClr val="57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E475A-DFBA-316D-A36B-81EAD1910EEE}" v="11" dt="2024-02-08T07:16:14.145"/>
    <p1510:client id="{3332C888-4435-AAC2-AACB-1240A451D4AB}" v="101" dt="2024-02-08T14:50:32.282"/>
    <p1510:client id="{5120F6E3-D5F6-893A-76DB-E1C39F2B0E6E}" v="2" dt="2024-02-07T16:09:45.741"/>
    <p1510:client id="{5B659D79-F204-CC4C-B924-B744E3A72263}" v="22" dt="2024-02-07T09:55:36.358"/>
    <p1510:client id="{8DC55C13-FF8B-B8F2-5F98-FB644742AB1B}" v="2" dt="2024-02-08T10:38:06.403"/>
    <p1510:client id="{AAFE6093-9720-EE11-A43D-A94DFD7A9EFB}" v="150" dt="2024-02-08T10:22:08.690"/>
    <p1510:client id="{B437B523-C343-2D90-9588-E6D7899BA12B}" v="11" dt="2024-02-08T09:43:25.961"/>
    <p1510:client id="{BAAA40C2-ECDD-4BB2-A38B-3A5AFA6F74E4}" v="5" dt="2024-02-08T09:59:59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41D7D-C4D4-4D1E-B52D-BDBC36835D74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5A4DC-59D4-4240-8828-69583C22DE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307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AFB5C-83D3-4556-B9B5-93EEEDB806CA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FB21A-BDE3-4A4C-94B1-FDAFE52A0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5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0"/>
            <a:ext cx="3435350" cy="68580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/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57" t="14115" r="10010" b="12185"/>
          <a:stretch/>
        </p:blipFill>
        <p:spPr>
          <a:xfrm>
            <a:off x="5526890" y="130652"/>
            <a:ext cx="6658484" cy="672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38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18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8" name="Connecteur droit 17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40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8" name="Connecteur droit 17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07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6" t="799" r="79" b="2577"/>
          <a:stretch/>
        </p:blipFill>
        <p:spPr>
          <a:xfrm>
            <a:off x="-7088" y="0"/>
            <a:ext cx="831275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8" name="Connecteur droit 17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42"/>
          <a:stretch/>
        </p:blipFill>
        <p:spPr>
          <a:xfrm>
            <a:off x="8034984" y="0"/>
            <a:ext cx="3535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5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57" t="14114" r="10010" b="17657"/>
          <a:stretch/>
        </p:blipFill>
        <p:spPr>
          <a:xfrm>
            <a:off x="5533516" y="620143"/>
            <a:ext cx="6658484" cy="62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7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81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32" name="Connecteur droit 31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37" name="Connecteur droit 36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31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6183923" y="1563976"/>
            <a:ext cx="6008077" cy="4450774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  <a:ln w="19050">
            <a:noFill/>
          </a:ln>
        </p:spPr>
        <p:txBody>
          <a:bodyPr tIns="468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2" name="Connecteur droit 11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0" name="Connecteur droit 19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697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0" name="Connecteur droit 19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4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4830" y="1696572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17" name="Espace réservé du texte 11"/>
          <p:cNvSpPr>
            <a:spLocks noGrp="1"/>
          </p:cNvSpPr>
          <p:nvPr userDrawn="1">
            <p:ph type="body" sz="quarter" idx="17"/>
          </p:nvPr>
        </p:nvSpPr>
        <p:spPr>
          <a:xfrm>
            <a:off x="1199209" y="459395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 userDrawn="1">
            <p:ph type="pic" sz="quarter" idx="12"/>
          </p:nvPr>
        </p:nvSpPr>
        <p:spPr>
          <a:xfrm>
            <a:off x="1782319" y="1556792"/>
            <a:ext cx="1980000" cy="209017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10819" y="1696572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22" name="Espace réservé pour une image  7"/>
          <p:cNvSpPr>
            <a:spLocks noGrp="1"/>
          </p:cNvSpPr>
          <p:nvPr userDrawn="1">
            <p:ph type="pic" sz="quarter" idx="18"/>
          </p:nvPr>
        </p:nvSpPr>
        <p:spPr>
          <a:xfrm>
            <a:off x="5031273" y="1553644"/>
            <a:ext cx="1980000" cy="208021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2224" y="1702220"/>
            <a:ext cx="2052538" cy="2117454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effectLst/>
            </a:endParaRPr>
          </a:p>
        </p:txBody>
      </p:sp>
      <p:sp>
        <p:nvSpPr>
          <p:cNvPr id="26" name="Espace réservé pour une image  7"/>
          <p:cNvSpPr>
            <a:spLocks noGrp="1"/>
          </p:cNvSpPr>
          <p:nvPr userDrawn="1">
            <p:ph type="pic" sz="quarter" idx="19"/>
          </p:nvPr>
        </p:nvSpPr>
        <p:spPr>
          <a:xfrm>
            <a:off x="8328247" y="1553644"/>
            <a:ext cx="1980000" cy="208021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445198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7746603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1198563" y="4264025"/>
            <a:ext cx="2784475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4445000" y="4248150"/>
            <a:ext cx="2784475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7747000" y="4248150"/>
            <a:ext cx="2782888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3" name="Connecteur droit 22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32" name="Connecteur droit 31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885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e 13"/>
          <p:cNvSpPr/>
          <p:nvPr userDrawn="1"/>
        </p:nvSpPr>
        <p:spPr>
          <a:xfrm>
            <a:off x="15579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7001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5" name="Ellipse 14"/>
          <p:cNvSpPr/>
          <p:nvPr userDrawn="1"/>
        </p:nvSpPr>
        <p:spPr>
          <a:xfrm>
            <a:off x="51583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 hasCustomPrompt="1"/>
          </p:nvPr>
        </p:nvSpPr>
        <p:spPr>
          <a:xfrm>
            <a:off x="53005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7" name="Ellipse 16"/>
          <p:cNvSpPr/>
          <p:nvPr userDrawn="1"/>
        </p:nvSpPr>
        <p:spPr>
          <a:xfrm>
            <a:off x="8758749" y="1771234"/>
            <a:ext cx="1875600" cy="187379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 hasCustomPrompt="1"/>
          </p:nvPr>
        </p:nvSpPr>
        <p:spPr>
          <a:xfrm>
            <a:off x="89009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983020" y="425707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604389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8233057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982339" y="3927141"/>
            <a:ext cx="3062923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4604156" y="3911266"/>
            <a:ext cx="3062923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8233499" y="3911266"/>
            <a:ext cx="3061177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0" name="Connecteur droit 19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3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33" name="Connecteur droit 32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431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xte-Enjeux-Objectif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517793" y="188640"/>
            <a:ext cx="11147158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527382" y="1654298"/>
            <a:ext cx="5760000" cy="2542060"/>
          </a:xfrm>
          <a:ln w="19050">
            <a:solidFill>
              <a:srgbClr val="C00000"/>
            </a:solidFill>
          </a:ln>
        </p:spPr>
        <p:txBody>
          <a:bodyPr lIns="108000" tIns="252000" rIns="1080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1206710" y="1496197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6624619" y="1654297"/>
            <a:ext cx="5040000" cy="2542060"/>
          </a:xfrm>
          <a:ln w="19050">
            <a:solidFill>
              <a:srgbClr val="C00000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963134" y="1512020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731520" y="4711052"/>
            <a:ext cx="10933099" cy="1364312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868613" indent="-28575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5" name="Connecteur droit 14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2" name="Connecteur droit 21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604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 userDrawn="1"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 userDrawn="1"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 userDrawn="1"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7" name="Connecteur droit 26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282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2409552" y="1342359"/>
            <a:ext cx="4070770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7199059" y="1342359"/>
            <a:ext cx="4477385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2409317" y="2158521"/>
            <a:ext cx="4070350" cy="542925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7199059" y="2133121"/>
            <a:ext cx="4477385" cy="62706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2409317" y="3172682"/>
            <a:ext cx="40703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7199376" y="3172682"/>
            <a:ext cx="44767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 hasCustomPrompt="1"/>
          </p:nvPr>
        </p:nvSpPr>
        <p:spPr>
          <a:xfrm>
            <a:off x="2409317" y="4486942"/>
            <a:ext cx="40703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Deuxième niveau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 hasCustomPrompt="1"/>
          </p:nvPr>
        </p:nvSpPr>
        <p:spPr>
          <a:xfrm>
            <a:off x="7199376" y="4486942"/>
            <a:ext cx="44767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Deuxième niveau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3287240"/>
            <a:ext cx="720000" cy="68821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2112157"/>
            <a:ext cx="720000" cy="66899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2" y="4829445"/>
            <a:ext cx="720000" cy="628738"/>
          </a:xfrm>
          <a:prstGeom prst="rect">
            <a:avLst/>
          </a:prstGeom>
        </p:spPr>
      </p:pic>
      <p:cxnSp>
        <p:nvCxnSpPr>
          <p:cNvPr id="20" name="Connecteur droit 19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3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40" name="Connecteur droit 39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00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3951" y="135475"/>
            <a:ext cx="9404707" cy="497160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11908" y="1410491"/>
            <a:ext cx="3346860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1000" b="1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126272" y="2966004"/>
            <a:ext cx="7525047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1000" b="1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133088" y="1410491"/>
            <a:ext cx="7525047" cy="28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200" b="1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1000" b="1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2254102" y="632635"/>
            <a:ext cx="9404033" cy="476338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844486" y="142805"/>
            <a:ext cx="993939" cy="97292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511175" y="1786270"/>
            <a:ext cx="3348038" cy="4358943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4133850" y="1786270"/>
            <a:ext cx="7515225" cy="1020249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4126272" y="3338623"/>
            <a:ext cx="7532328" cy="2806590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6" name="Connecteur droit 15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9" name="Connecteur droit 28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084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2640413" y="1460808"/>
            <a:ext cx="9024538" cy="684212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2640013" y="243534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2634238" y="340097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673403" y="434513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673403" y="534566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45" name="Connecteur droit 44"/>
          <p:cNvCxnSpPr/>
          <p:nvPr userDrawn="1"/>
        </p:nvCxnSpPr>
        <p:spPr>
          <a:xfrm>
            <a:off x="1374588" y="180291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 userDrawn="1"/>
        </p:nvCxnSpPr>
        <p:spPr>
          <a:xfrm>
            <a:off x="1366132" y="279570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 userDrawn="1"/>
        </p:nvCxnSpPr>
        <p:spPr>
          <a:xfrm>
            <a:off x="1365278" y="3761336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 userDrawn="1"/>
        </p:nvCxnSpPr>
        <p:spPr>
          <a:xfrm>
            <a:off x="1345589" y="5706024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 userDrawn="1"/>
        </p:nvCxnSpPr>
        <p:spPr>
          <a:xfrm>
            <a:off x="1366133" y="4725497"/>
            <a:ext cx="104727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Image 4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3429902"/>
            <a:ext cx="576000" cy="633856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1506190"/>
            <a:ext cx="576000" cy="635341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2514657"/>
            <a:ext cx="576000" cy="562094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4564107"/>
            <a:ext cx="576000" cy="400708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96" y="5428107"/>
            <a:ext cx="576000" cy="515328"/>
          </a:xfrm>
          <a:prstGeom prst="rect">
            <a:avLst/>
          </a:prstGeom>
        </p:spPr>
      </p:pic>
      <p:cxnSp>
        <p:nvCxnSpPr>
          <p:cNvPr id="21" name="Connecteur droit 20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2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25" name="Connecteur droit 24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125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511910" y="1426909"/>
            <a:ext cx="11152708" cy="1106487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 SmartArt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527050" y="2825496"/>
            <a:ext cx="11137900" cy="2990850"/>
          </a:xfrm>
          <a:ln w="19050">
            <a:solidFill>
              <a:srgbClr val="C00000"/>
            </a:solidFill>
          </a:ln>
        </p:spPr>
        <p:txBody>
          <a:bodyPr tIns="21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3882031" y="2574671"/>
            <a:ext cx="4427938" cy="5016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14" name="Connecteur droit 13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07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 userDrawn="1"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053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/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>
          <a:xfrm>
            <a:off x="8836025" y="6407150"/>
            <a:ext cx="2844800" cy="365125"/>
          </a:xfrm>
        </p:spPr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02C566C8-D2E2-4979-81FE-6F1627C9E0A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r>
              <a:rPr lang="fr-FR"/>
              <a:t>2024 | ©</a:t>
            </a:r>
            <a:r>
              <a:rPr lang="fr-FR" err="1"/>
              <a:t>HeadMind</a:t>
            </a:r>
            <a:r>
              <a:rPr lang="fr-FR"/>
              <a:t> </a:t>
            </a:r>
            <a:r>
              <a:rPr lang="fr-FR" err="1"/>
              <a:t>Partners</a:t>
            </a:r>
            <a:r>
              <a:rPr lang="fr-FR"/>
              <a:t> AI &amp; </a:t>
            </a:r>
            <a:r>
              <a:rPr lang="fr-FR" err="1"/>
              <a:t>Blockchain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206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4FFB720-E276-4088-AD58-4114EB1992FB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330200"/>
            <a:ext cx="4183063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CCFC9B61-2EE3-42BD-8A07-04EC2A88228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264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 flipH="1">
            <a:off x="3886200" y="2101850"/>
            <a:ext cx="1588" cy="19939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871663"/>
            <a:ext cx="250507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4439816" y="2103019"/>
            <a:ext cx="6696744" cy="2041065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2860AC19-DB94-4543-8BC6-B20AA217041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r>
              <a:rPr lang="fr-FR"/>
              <a:t>2024 | ©</a:t>
            </a:r>
            <a:r>
              <a:rPr lang="fr-FR" err="1"/>
              <a:t>HeadMind</a:t>
            </a:r>
            <a:r>
              <a:rPr lang="fr-FR"/>
              <a:t> </a:t>
            </a:r>
            <a:r>
              <a:rPr lang="fr-FR" err="1"/>
              <a:t>Partners</a:t>
            </a:r>
            <a:r>
              <a:rPr lang="fr-FR"/>
              <a:t> AI &amp; </a:t>
            </a:r>
            <a:r>
              <a:rPr lang="fr-FR" err="1"/>
              <a:t>Blockchain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96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/>
              <a:t>2024 | ©HeadMind Partners | Publique</a:t>
            </a:r>
          </a:p>
        </p:txBody>
      </p:sp>
    </p:spTree>
    <p:extLst>
      <p:ext uri="{BB962C8B-B14F-4D97-AF65-F5344CB8AC3E}">
        <p14:creationId xmlns:p14="http://schemas.microsoft.com/office/powerpoint/2010/main" val="428428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4" r:id="rId3"/>
    <p:sldLayoutId id="2147483692" r:id="rId4"/>
    <p:sldLayoutId id="2147483696" r:id="rId5"/>
    <p:sldLayoutId id="2147483693" r:id="rId6"/>
    <p:sldLayoutId id="2147483695" r:id="rId7"/>
    <p:sldLayoutId id="2147483662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8" r:id="rId14"/>
    <p:sldLayoutId id="2147483675" r:id="rId15"/>
    <p:sldLayoutId id="2147483676" r:id="rId16"/>
    <p:sldLayoutId id="2147483677" r:id="rId17"/>
    <p:sldLayoutId id="2147483679" r:id="rId18"/>
    <p:sldLayoutId id="2147483681" r:id="rId19"/>
    <p:sldLayoutId id="2147483697" r:id="rId20"/>
    <p:sldLayoutId id="2147483698" r:id="rId21"/>
    <p:sldLayoutId id="2147483699" r:id="rId2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24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65980" y="1916348"/>
            <a:ext cx="6731926" cy="2440515"/>
          </a:xfrm>
        </p:spPr>
        <p:txBody>
          <a:bodyPr/>
          <a:lstStyle/>
          <a:p>
            <a:r>
              <a:rPr lang="en-US" sz="3200" dirty="0"/>
              <a:t>Optimizing Sports Betting Strategies in Football through Predictive Modeling and Utility-Based Optimization</a:t>
            </a:r>
            <a:endParaRPr lang="fr-FR" sz="3200" dirty="0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5"/>
          </p:nvPr>
        </p:nvSpPr>
        <p:spPr>
          <a:xfrm>
            <a:off x="4267200" y="4517493"/>
            <a:ext cx="6731926" cy="1212098"/>
          </a:xfrm>
        </p:spPr>
        <p:txBody>
          <a:bodyPr/>
          <a:lstStyle/>
          <a:p>
            <a:r>
              <a:rPr lang="fr-FR" u="sng" dirty="0" err="1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Intern</a:t>
            </a:r>
            <a:r>
              <a:rPr lang="fr-FR" u="sng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: 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Julien </a:t>
            </a:r>
            <a:r>
              <a:rPr lang="fr-FR" dirty="0" err="1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Delavande</a:t>
            </a:r>
            <a:endParaRPr lang="fr-FR" dirty="0">
              <a:solidFill>
                <a:schemeClr val="bg2">
                  <a:lumMod val="10000"/>
                </a:schemeClr>
              </a:solidFill>
              <a:latin typeface="Segoe UI"/>
              <a:cs typeface="Segoe UI"/>
            </a:endParaRPr>
          </a:p>
          <a:p>
            <a:r>
              <a:rPr lang="fr-FR" u="sng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Affiliation: 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ISAE-SUPAERO Toulouse</a:t>
            </a:r>
          </a:p>
          <a:p>
            <a:r>
              <a:rPr lang="fr-FR" u="sng" dirty="0" err="1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Tutor</a:t>
            </a:r>
            <a:r>
              <a:rPr lang="fr-FR" u="sng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: 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Pierre Louis </a:t>
            </a:r>
            <a:r>
              <a:rPr lang="fr-FR" dirty="0" smtClean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Perez</a:t>
            </a:r>
          </a:p>
          <a:p>
            <a:r>
              <a:rPr lang="fr-FR" u="sng" dirty="0" err="1" smtClean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Tutor</a:t>
            </a:r>
            <a:r>
              <a:rPr lang="fr-FR" u="sng" dirty="0" smtClean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 </a:t>
            </a:r>
            <a:r>
              <a:rPr lang="fr-FR" u="sng" dirty="0" err="1" smtClean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Supaero</a:t>
            </a:r>
            <a:r>
              <a:rPr lang="fr-FR" u="sng" dirty="0" smtClean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: </a:t>
            </a:r>
            <a:r>
              <a:rPr lang="fr-FR" dirty="0" smtClean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Thomas Oberlin</a:t>
            </a:r>
            <a:endParaRPr lang="en-US" dirty="0">
              <a:solidFill>
                <a:schemeClr val="bg2">
                  <a:lumMod val="10000"/>
                </a:schemeClr>
              </a:solidFill>
              <a:latin typeface="Segoe UI"/>
              <a:cs typeface="Segoe UI"/>
            </a:endParaRPr>
          </a:p>
          <a:p>
            <a:r>
              <a:rPr lang="en-US" u="sng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Duration: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Segoe UI"/>
                <a:cs typeface="Segoe UI"/>
              </a:rPr>
              <a:t>April 2024 – September 2024</a:t>
            </a:r>
          </a:p>
          <a:p>
            <a:endParaRPr lang="en-US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fr-FR" sz="1200" dirty="0" err="1">
                <a:latin typeface="Segoe UI"/>
                <a:cs typeface="Segoe UI"/>
              </a:rPr>
              <a:t>October</a:t>
            </a:r>
            <a:r>
              <a:rPr lang="fr-FR" sz="1200" dirty="0">
                <a:latin typeface="Segoe UI"/>
                <a:cs typeface="Segoe UI"/>
              </a:rPr>
              <a:t> 2024</a:t>
            </a:r>
            <a:endParaRPr lang="en-US" sz="12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pic>
        <p:nvPicPr>
          <p:cNvPr id="2050" name="Picture 2" descr="ISAE-SUPAERO – PEGASUS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675" y="4769237"/>
            <a:ext cx="2746081" cy="166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57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Objective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486188" y="1494561"/>
            <a:ext cx="11137237" cy="63000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B3B3B"/>
                </a:solidFill>
                <a:effectLst/>
                <a:latin typeface="-apple-system"/>
              </a:rPr>
              <a:t>Develop a comprehensive system to optimize sports betting strategies in football.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Image 5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872FA5EA-4819-C848-6A6A-137B3286E5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12287" r="2273" b="4437"/>
          <a:stretch/>
        </p:blipFill>
        <p:spPr>
          <a:xfrm>
            <a:off x="4749001" y="2198451"/>
            <a:ext cx="6625786" cy="38995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B4031B4-266A-2588-F076-1F7E6CC8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82" y="2960626"/>
            <a:ext cx="3045551" cy="2120011"/>
          </a:xfrm>
          <a:prstGeom prst="rect">
            <a:avLst/>
          </a:prstGeom>
        </p:spPr>
      </p:pic>
      <p:pic>
        <p:nvPicPr>
          <p:cNvPr id="8" name="Picture 2" descr="ISAE-SUPAERO – PEGASU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25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Concepts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sp>
        <p:nvSpPr>
          <p:cNvPr id="7" name="AutoShape 2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AutoShape 6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0" name="Image 9" descr="Une image contenant texte, diagramme, Plan, Dessin technique&#10;&#10;Description générée automatiquement">
            <a:extLst>
              <a:ext uri="{FF2B5EF4-FFF2-40B4-BE49-F238E27FC236}">
                <a16:creationId xmlns:a16="http://schemas.microsoft.com/office/drawing/2014/main" id="{181441F3-F57B-E4D0-37A3-42F179625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330625"/>
            <a:ext cx="10848975" cy="4800600"/>
          </a:xfrm>
          <a:prstGeom prst="rect">
            <a:avLst/>
          </a:prstGeom>
        </p:spPr>
      </p:pic>
      <p:pic>
        <p:nvPicPr>
          <p:cNvPr id="12" name="Picture 2" descr="ISAE-SUPAERO – PEGASUS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06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Concepts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sp>
        <p:nvSpPr>
          <p:cNvPr id="7" name="AutoShape 2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AutoShape 6" descr="Une image contenant texte, diagramme, Plan, Dessin technique&#10;&#10;Description générée automatiquement"/>
          <p:cNvSpPr>
            <a:spLocks noChangeAspect="1" noChangeArrowheads="1"/>
          </p:cNvSpPr>
          <p:nvPr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1" name="Image 10" descr="Une image contenant texte, diagramme, capture d’écran, Plan&#10;&#10;Description générée automatiquement">
            <a:extLst>
              <a:ext uri="{FF2B5EF4-FFF2-40B4-BE49-F238E27FC236}">
                <a16:creationId xmlns:a16="http://schemas.microsoft.com/office/drawing/2014/main" id="{6179ABD8-7321-7180-C6B4-8A96D8D9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25" y="460703"/>
            <a:ext cx="6626326" cy="6227964"/>
          </a:xfrm>
          <a:prstGeom prst="rect">
            <a:avLst/>
          </a:prstGeom>
        </p:spPr>
      </p:pic>
      <p:sp>
        <p:nvSpPr>
          <p:cNvPr id="12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511910" y="1859297"/>
            <a:ext cx="3924624" cy="2724647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 smtClean="0">
                <a:solidFill>
                  <a:srgbClr val="3B3B3B"/>
                </a:solidFill>
                <a:latin typeface="-apple-system"/>
              </a:rPr>
              <a:t>B(t) the bankroll of the bettors or Player at t</a:t>
            </a:r>
          </a:p>
          <a:p>
            <a:pPr marL="0" indent="0" algn="l">
              <a:buNone/>
            </a:pPr>
            <a:endParaRPr lang="en-US" b="0" i="0" dirty="0">
              <a:solidFill>
                <a:srgbClr val="3B3B3B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dirty="0" smtClean="0">
                <a:solidFill>
                  <a:srgbClr val="3B3B3B"/>
                </a:solidFill>
                <a:latin typeface="-apple-system"/>
              </a:rPr>
              <a:t>BF, the bankroll factor, BF = B/B(0)</a:t>
            </a:r>
          </a:p>
          <a:p>
            <a:pPr marL="0" indent="0" algn="l">
              <a:buNone/>
            </a:pPr>
            <a:endParaRPr lang="en-US" b="0" i="0" dirty="0">
              <a:solidFill>
                <a:srgbClr val="3B3B3B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dirty="0" smtClean="0">
                <a:solidFill>
                  <a:srgbClr val="3B3B3B"/>
                </a:solidFill>
                <a:latin typeface="-apple-system"/>
              </a:rPr>
              <a:t>Trough the presentation B(0)=BF(0)=1</a:t>
            </a:r>
            <a:endParaRPr lang="en-US" b="0" i="0" dirty="0">
              <a:solidFill>
                <a:srgbClr val="3B3B3B"/>
              </a:solidFill>
              <a:effectLst/>
              <a:latin typeface="-apple-system"/>
            </a:endParaRPr>
          </a:p>
        </p:txBody>
      </p:sp>
      <p:pic>
        <p:nvPicPr>
          <p:cNvPr id="13" name="Picture 2" descr="ISAE-SUPAERO – PEGASUS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53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General Agent-</a:t>
            </a:r>
            <a:r>
              <a:rPr lang="fr-FR" dirty="0" err="1"/>
              <a:t>Based</a:t>
            </a:r>
            <a:r>
              <a:rPr lang="fr-FR" dirty="0"/>
              <a:t> Betting </a:t>
            </a:r>
            <a:r>
              <a:rPr lang="fr-FR" dirty="0" smtClean="0"/>
              <a:t>Framework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3877193" cy="678639"/>
          </a:xfrm>
        </p:spPr>
        <p:txBody>
          <a:bodyPr/>
          <a:lstStyle/>
          <a:p>
            <a:r>
              <a:rPr lang="fr-FR" dirty="0"/>
              <a:t>Agents: </a:t>
            </a:r>
            <a:r>
              <a:rPr lang="fr-FR" dirty="0" err="1"/>
              <a:t>Bettors</a:t>
            </a:r>
            <a:r>
              <a:rPr lang="fr-FR" dirty="0"/>
              <a:t> – Bookmakers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02DED14-9193-524B-5113-4233715CA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11" y="2703313"/>
            <a:ext cx="6254689" cy="164168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E9F2F52-3DB6-B9C9-2F69-C28E18517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978" y="3985642"/>
            <a:ext cx="5875184" cy="769854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10CA2A8-5C4C-7955-AF40-9CAA21532138}"/>
              </a:ext>
            </a:extLst>
          </p:cNvPr>
          <p:cNvSpPr txBox="1">
            <a:spLocks/>
          </p:cNvSpPr>
          <p:nvPr/>
        </p:nvSpPr>
        <p:spPr bwMode="auto">
          <a:xfrm>
            <a:off x="552456" y="2084164"/>
            <a:ext cx="2401340" cy="678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Actions:</a:t>
            </a:r>
          </a:p>
        </p:txBody>
      </p:sp>
      <p:pic>
        <p:nvPicPr>
          <p:cNvPr id="17" name="Picture 2" descr="ISAE-SUPAERO – PEGASU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41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Utility </a:t>
            </a:r>
            <a:r>
              <a:rPr lang="fr-FR" dirty="0" err="1" smtClean="0"/>
              <a:t>Function</a:t>
            </a:r>
            <a:r>
              <a:rPr lang="fr-FR" dirty="0" smtClean="0"/>
              <a:t> as an objectif to </a:t>
            </a:r>
            <a:r>
              <a:rPr lang="fr-FR" dirty="0" err="1" smtClean="0"/>
              <a:t>incorporate</a:t>
            </a:r>
            <a:r>
              <a:rPr lang="fr-FR" dirty="0" smtClean="0"/>
              <a:t> </a:t>
            </a:r>
            <a:r>
              <a:rPr lang="fr-FR" dirty="0" err="1" smtClean="0"/>
              <a:t>risk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1674DA5-22C8-E939-D5C9-087A421D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0" y="1487769"/>
            <a:ext cx="7635902" cy="81541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F46833F-DE0A-0677-94F2-A5DCEEC77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04" y="2605969"/>
            <a:ext cx="7712108" cy="82303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0995B78-91E2-7CF6-8F8C-B39F3AE27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10" y="3856413"/>
            <a:ext cx="7559695" cy="84589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C6363FA-83EB-7585-FE46-9964BCE1F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10" y="5199202"/>
            <a:ext cx="4709568" cy="739204"/>
          </a:xfrm>
          <a:prstGeom prst="rect">
            <a:avLst/>
          </a:prstGeom>
        </p:spPr>
      </p:pic>
      <p:pic>
        <p:nvPicPr>
          <p:cNvPr id="10" name="Image 9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872FA5EA-4819-C848-6A6A-137B3286E5A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500" t="12287" r="2273" b="4437"/>
          <a:stretch/>
        </p:blipFill>
        <p:spPr>
          <a:xfrm>
            <a:off x="5866424" y="2303179"/>
            <a:ext cx="6296296" cy="3705637"/>
          </a:xfrm>
          <a:prstGeom prst="rect">
            <a:avLst/>
          </a:prstGeom>
        </p:spPr>
      </p:pic>
      <p:pic>
        <p:nvPicPr>
          <p:cNvPr id="12" name="Picture 2" descr="ISAE-SUPAERO – PEGASUS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10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General Agent-</a:t>
            </a:r>
            <a:r>
              <a:rPr lang="fr-FR" dirty="0" err="1"/>
              <a:t>Based</a:t>
            </a:r>
            <a:r>
              <a:rPr lang="fr-FR" dirty="0"/>
              <a:t> Betting Framework - </a:t>
            </a:r>
            <a:r>
              <a:rPr lang="fr-FR" dirty="0" smtClean="0"/>
              <a:t>Objective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A51AAC0-5FCC-D7CB-402F-C4D45B351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8" y="1397938"/>
            <a:ext cx="6929524" cy="153873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5EA5E0C-B40E-9BB9-E9DF-1896202E0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658" y="1694878"/>
            <a:ext cx="2912985" cy="115420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E49810D-1F26-0AB0-8869-8EEFC4343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185" y="2849079"/>
            <a:ext cx="2121532" cy="58259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B2AD488-61EC-939C-2D39-9E430DB37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9" y="3610195"/>
            <a:ext cx="7233992" cy="151083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3766869-A14D-5C9E-BDB9-B85EE6357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012" y="4101816"/>
            <a:ext cx="2841732" cy="953732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DEDD449-6E12-DA3D-CBDC-293E17F7FC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186" y="5182763"/>
            <a:ext cx="2459682" cy="33497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84D0CC2-9C13-5BD9-C4EE-C89404C2B5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0956" y="2167303"/>
            <a:ext cx="2128777" cy="57713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442AC41-FCCD-C461-39B3-2A4B54A01E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44" y="4641677"/>
            <a:ext cx="2282090" cy="315064"/>
          </a:xfrm>
          <a:prstGeom prst="rect">
            <a:avLst/>
          </a:prstGeom>
        </p:spPr>
      </p:pic>
      <p:pic>
        <p:nvPicPr>
          <p:cNvPr id="13" name="Picture 2" descr="ISAE-SUPAERO – PEGASUS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06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to the Studied </a:t>
            </a:r>
            <a:r>
              <a:rPr lang="en-US" dirty="0" smtClean="0"/>
              <a:t>Case – dynamic to static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D5B9CC-56A3-7F40-68E8-C7A71F3CF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8" y="1895766"/>
            <a:ext cx="6044153" cy="371763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19985BB-91E3-0663-39DF-A92B0A4F4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22" y="2865482"/>
            <a:ext cx="5117829" cy="1757074"/>
          </a:xfrm>
          <a:prstGeom prst="rect">
            <a:avLst/>
          </a:prstGeom>
        </p:spPr>
      </p:pic>
      <p:pic>
        <p:nvPicPr>
          <p:cNvPr id="14" name="Picture 2" descr="ISAE-SUPAERO – PEGASU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72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to the Studied </a:t>
            </a:r>
            <a:r>
              <a:rPr lang="en-US" dirty="0" smtClean="0"/>
              <a:t>Case – dynamic to static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9896AC7-490F-0C77-AED0-C64D464F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90" y="1755585"/>
            <a:ext cx="9074961" cy="112578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97D747B-148B-2F46-F973-7091F3F1A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667" y="2891226"/>
            <a:ext cx="6565000" cy="115000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53A69647-E6D8-2BA8-E0B2-60CC3822F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667" y="4199467"/>
            <a:ext cx="7183926" cy="9343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5111" y="5275444"/>
            <a:ext cx="8138967" cy="761668"/>
          </a:xfrm>
          <a:prstGeom prst="rect">
            <a:avLst/>
          </a:prstGeom>
        </p:spPr>
      </p:pic>
      <p:pic>
        <p:nvPicPr>
          <p:cNvPr id="14" name="Picture 2" descr="ISAE-SUPAERO – PEGASUS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08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and implementation of the solution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B4031B4-266A-2588-F076-1F7E6CC8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67" y="1208469"/>
            <a:ext cx="7508730" cy="5226834"/>
          </a:xfrm>
          <a:prstGeom prst="rect">
            <a:avLst/>
          </a:prstGeom>
        </p:spPr>
      </p:pic>
      <p:pic>
        <p:nvPicPr>
          <p:cNvPr id="6" name="Picture 2" descr="ISAE-SUPAERO – PEGASUS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25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sources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7" name="Picture 2" descr="ISAE-SUPAERO – PEGASUS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2152650"/>
            <a:ext cx="5518691" cy="3866744"/>
          </a:xfrm>
          <a:prstGeom prst="rect">
            <a:avLst/>
          </a:prstGeom>
        </p:spPr>
      </p:pic>
      <p:sp>
        <p:nvSpPr>
          <p:cNvPr id="8" name="AutoShape 2" descr="Which Are The Best Football Analysis Websites? - Mad About Spor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" y="1402435"/>
            <a:ext cx="3196103" cy="624076"/>
          </a:xfrm>
          <a:prstGeom prst="rect">
            <a:avLst/>
          </a:prstGeom>
        </p:spPr>
      </p:pic>
      <p:pic>
        <p:nvPicPr>
          <p:cNvPr id="1026" name="Picture 2" descr="Tweets with replies by SoFIFA.com (@SoFIFA) / Twitter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473" y="1260201"/>
            <a:ext cx="777438" cy="77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381" y="2152650"/>
            <a:ext cx="5738235" cy="3737232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7075357" y="1391308"/>
            <a:ext cx="192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SOFIFA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86256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data set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42D4A9A-31E8-2723-A70A-3A285CBF2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3" y="1543034"/>
            <a:ext cx="5297776" cy="440197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51E0CD2-23DC-BD6A-74C9-02AF3E0691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11" b="6679"/>
          <a:stretch/>
        </p:blipFill>
        <p:spPr>
          <a:xfrm>
            <a:off x="6669086" y="187550"/>
            <a:ext cx="4451351" cy="5958072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6584449" y="6028804"/>
            <a:ext cx="4711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 smtClean="0">
                <a:solidFill>
                  <a:srgbClr val="000000"/>
                </a:solidFill>
              </a:rPr>
              <a:t>SoFifa</a:t>
            </a:r>
            <a:r>
              <a:rPr lang="fr-FR" sz="1400" dirty="0" smtClean="0">
                <a:solidFill>
                  <a:srgbClr val="000000"/>
                </a:solidFill>
              </a:rPr>
              <a:t> </a:t>
            </a:r>
            <a:r>
              <a:rPr lang="fr-FR" sz="1400" dirty="0" err="1" smtClean="0">
                <a:solidFill>
                  <a:srgbClr val="000000"/>
                </a:solidFill>
              </a:rPr>
              <a:t>features</a:t>
            </a:r>
            <a:r>
              <a:rPr lang="fr-FR" sz="1400" dirty="0" smtClean="0">
                <a:solidFill>
                  <a:srgbClr val="000000"/>
                </a:solidFill>
              </a:rPr>
              <a:t> </a:t>
            </a:r>
            <a:r>
              <a:rPr lang="fr-FR" sz="1400" dirty="0" err="1" smtClean="0">
                <a:solidFill>
                  <a:srgbClr val="000000"/>
                </a:solidFill>
              </a:rPr>
              <a:t>evolving</a:t>
            </a:r>
            <a:r>
              <a:rPr lang="fr-FR" sz="1400" dirty="0" smtClean="0">
                <a:solidFill>
                  <a:srgbClr val="000000"/>
                </a:solidFill>
              </a:rPr>
              <a:t> </a:t>
            </a:r>
            <a:r>
              <a:rPr lang="fr-FR" sz="1400" dirty="0" err="1" smtClean="0">
                <a:solidFill>
                  <a:srgbClr val="000000"/>
                </a:solidFill>
              </a:rPr>
              <a:t>during</a:t>
            </a:r>
            <a:r>
              <a:rPr lang="fr-FR" sz="1400" dirty="0" smtClean="0">
                <a:solidFill>
                  <a:srgbClr val="000000"/>
                </a:solidFill>
              </a:rPr>
              <a:t> time for 5 football teams</a:t>
            </a:r>
            <a:endParaRPr lang="fr-FR" sz="1400" dirty="0">
              <a:solidFill>
                <a:srgbClr val="000000"/>
              </a:solidFill>
            </a:endParaRPr>
          </a:p>
        </p:txBody>
      </p:sp>
      <p:pic>
        <p:nvPicPr>
          <p:cNvPr id="9" name="Picture 2" descr="ISAE-SUPAERO – PEGASU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79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</a:t>
            </a:r>
            <a:r>
              <a:rPr lang="en-US" dirty="0" smtClean="0"/>
              <a:t>engineering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1E0CD2-23DC-BD6A-74C9-02AF3E0691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0" r="49688" b="38021"/>
          <a:stretch/>
        </p:blipFill>
        <p:spPr>
          <a:xfrm>
            <a:off x="5866424" y="1359920"/>
            <a:ext cx="5340349" cy="47681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517EEAE-D2D3-4A76-5C40-2BF93E552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84" y="1978584"/>
            <a:ext cx="5488840" cy="3530870"/>
          </a:xfrm>
          <a:prstGeom prst="rect">
            <a:avLst/>
          </a:prstGeom>
        </p:spPr>
      </p:pic>
      <p:pic>
        <p:nvPicPr>
          <p:cNvPr id="7" name="Picture 2" descr="ISAE-SUPAERO – PEGASU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00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selection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65A08E2-12E2-74C6-B960-749DBECA3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0" y="1213849"/>
            <a:ext cx="4237087" cy="195088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3F220C1-EA63-C4F7-E50B-21EC612AB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98" y="3610408"/>
            <a:ext cx="5944185" cy="316431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326DB3A-3D37-297F-AC6C-35BB1519C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808" y="187550"/>
            <a:ext cx="7158892" cy="2895497"/>
          </a:xfrm>
          <a:prstGeom prst="rect">
            <a:avLst/>
          </a:prstGeom>
        </p:spPr>
      </p:pic>
      <p:pic>
        <p:nvPicPr>
          <p:cNvPr id="8" name="Picture 2" descr="ISAE-SUPAERO – PEGASU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48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BA4BA4-7706-0548-2ECC-149B70D9C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71" y="1700389"/>
            <a:ext cx="9625379" cy="3920763"/>
          </a:xfrm>
          <a:prstGeom prst="rect">
            <a:avLst/>
          </a:prstGeom>
        </p:spPr>
      </p:pic>
      <p:pic>
        <p:nvPicPr>
          <p:cNvPr id="7" name="Picture 2" descr="ISAE-SUPAERO – PEGASUS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1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Interpretation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172481F-FA04-FB75-F42E-FBFB35C7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230" y="1484629"/>
            <a:ext cx="9550400" cy="4518780"/>
          </a:xfrm>
          <a:prstGeom prst="rect">
            <a:avLst/>
          </a:prstGeom>
        </p:spPr>
      </p:pic>
      <p:pic>
        <p:nvPicPr>
          <p:cNvPr id="6" name="Picture 2" descr="ISAE-SUPAERO – PEGASUS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95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Retraining</a:t>
            </a:r>
            <a:r>
              <a:rPr lang="fr-FR" dirty="0"/>
              <a:t> of the model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7" name="Picture 2" descr="ISAE-SUPAERO – PEGASUS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1263650" y="1184101"/>
            <a:ext cx="9182100" cy="4797220"/>
            <a:chOff x="1263650" y="1184101"/>
            <a:chExt cx="9182100" cy="479722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7C5D5167-C696-929E-EC29-CBBE37C63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3650" y="1184101"/>
              <a:ext cx="9182100" cy="4797220"/>
            </a:xfrm>
            <a:prstGeom prst="rect">
              <a:avLst/>
            </a:prstGeom>
          </p:spPr>
        </p:pic>
        <p:sp>
          <p:nvSpPr>
            <p:cNvPr id="3" name="ZoneTexte 2"/>
            <p:cNvSpPr txBox="1"/>
            <p:nvPr/>
          </p:nvSpPr>
          <p:spPr>
            <a:xfrm rot="16200000">
              <a:off x="1833518" y="3697332"/>
              <a:ext cx="488950" cy="2189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800" b="1" dirty="0" smtClean="0">
                  <a:solidFill>
                    <a:srgbClr val="000000"/>
                  </a:solidFill>
                </a:rPr>
                <a:t>MSE</a:t>
              </a:r>
              <a:endParaRPr lang="fr-FR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205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Investement</a:t>
            </a:r>
            <a:r>
              <a:rPr lang="fr-FR" dirty="0"/>
              <a:t> </a:t>
            </a:r>
            <a:r>
              <a:rPr lang="fr-FR" dirty="0" err="1"/>
              <a:t>strategies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3C43669-9EF4-EA32-5E46-C491BAB5B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111" y="1259875"/>
            <a:ext cx="6758833" cy="363294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EEE9074-0581-50D4-2E55-CD027B485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506" y="4892818"/>
            <a:ext cx="5401794" cy="1907610"/>
          </a:xfrm>
          <a:prstGeom prst="rect">
            <a:avLst/>
          </a:prstGeom>
        </p:spPr>
      </p:pic>
      <p:pic>
        <p:nvPicPr>
          <p:cNvPr id="7" name="Picture 2" descr="ISAE-SUPAERO – PEGASU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70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Data source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7" name="Picture 2" descr="ISAE-SUPAERO – PEGASUS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orts Odds API | The Odds A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93" y="1415155"/>
            <a:ext cx="4505325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218" y="1310337"/>
            <a:ext cx="5681127" cy="486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Monte </a:t>
            </a:r>
            <a:r>
              <a:rPr lang="fr-FR" dirty="0" err="1"/>
              <a:t>carlo</a:t>
            </a:r>
            <a:r>
              <a:rPr lang="fr-FR" dirty="0"/>
              <a:t> simulations – setup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46E167-8C69-608C-64A2-CA5CCF7A6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0" y="1503029"/>
            <a:ext cx="2949196" cy="36579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E74A0DE-6469-665D-2DE0-85E526F48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36" y="2144999"/>
            <a:ext cx="5395428" cy="70110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98ECD29-77A1-44BF-2831-978F31F9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10" y="2816291"/>
            <a:ext cx="3025402" cy="28958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DE54579-51E2-A9FA-013D-8A3A21097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31" y="3325368"/>
            <a:ext cx="3375953" cy="85351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B01555A-4D87-EA75-C3D4-03D9EBB6A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573" y="1618607"/>
            <a:ext cx="4898577" cy="160717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226B160-4850-DD4D-C9C8-90F1BF3F15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877" y="3477781"/>
            <a:ext cx="7118273" cy="2048845"/>
          </a:xfrm>
          <a:prstGeom prst="rect">
            <a:avLst/>
          </a:prstGeom>
        </p:spPr>
      </p:pic>
      <p:pic>
        <p:nvPicPr>
          <p:cNvPr id="11" name="Picture 2" descr="ISAE-SUPAERO – PEGASUS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94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Monte </a:t>
            </a:r>
            <a:r>
              <a:rPr lang="fr-FR" dirty="0" err="1"/>
              <a:t>carlo</a:t>
            </a:r>
            <a:r>
              <a:rPr lang="fr-FR" dirty="0"/>
              <a:t> simulations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FF1F2FC-14FC-9CF8-BD82-512255883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1" y="1217777"/>
            <a:ext cx="7018628" cy="490008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2677188-EBFC-5F35-0348-150938B1F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775" y="1831353"/>
            <a:ext cx="4848225" cy="168406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FE37280-AD93-4568-FB3E-CDFC05A90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315" y="3993609"/>
            <a:ext cx="2575783" cy="1646063"/>
          </a:xfrm>
          <a:prstGeom prst="rect">
            <a:avLst/>
          </a:prstGeom>
        </p:spPr>
      </p:pic>
      <p:pic>
        <p:nvPicPr>
          <p:cNvPr id="9" name="Picture 2" descr="ISAE-SUPAERO – PEGASU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54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Online </a:t>
            </a:r>
            <a:r>
              <a:rPr lang="fr-FR" dirty="0" err="1"/>
              <a:t>testing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B91742-CBC4-0050-8B2C-3AF48B16D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8" y="1504857"/>
            <a:ext cx="4922947" cy="213378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0690214-22D6-0678-0AD0-150FD723C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547" y="1762801"/>
            <a:ext cx="6287045" cy="387129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0D0298C-FA69-27B3-BCD6-3A94F45B8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79" y="4191576"/>
            <a:ext cx="5225734" cy="1442520"/>
          </a:xfrm>
          <a:prstGeom prst="rect">
            <a:avLst/>
          </a:prstGeom>
        </p:spPr>
      </p:pic>
      <p:pic>
        <p:nvPicPr>
          <p:cNvPr id="9" name="Picture 2" descr="ISAE-SUPAERO – PEGASU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05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Deployment</a:t>
            </a:r>
            <a:r>
              <a:rPr lang="fr-FR" dirty="0"/>
              <a:t> on AKS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D02E6C-62DB-ED16-4B6B-102692831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150" y="1211575"/>
            <a:ext cx="6953250" cy="5130467"/>
          </a:xfrm>
          <a:prstGeom prst="rect">
            <a:avLst/>
          </a:prstGeom>
        </p:spPr>
      </p:pic>
      <p:pic>
        <p:nvPicPr>
          <p:cNvPr id="7" name="Picture 2" descr="ISAE-SUPAERO – PEGASUS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26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Demo</a:t>
            </a:r>
            <a:r>
              <a:rPr lang="fr-FR" dirty="0" smtClean="0"/>
              <a:t> !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Picture 2" descr="ISAE-SUPAERO – PEGASUS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69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2024 | ©HeadMind Partners | Publique</a:t>
            </a:r>
          </a:p>
        </p:txBody>
      </p:sp>
      <p:pic>
        <p:nvPicPr>
          <p:cNvPr id="6" name="Picture 2" descr="ISAE-SUPAERO – PEGASUS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5" y="6302813"/>
            <a:ext cx="777875" cy="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28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22_HeadMind Partners_Modèles Slides">
  <a:themeElements>
    <a:clrScheme name="Charte HeadMind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263A"/>
      </a:accent1>
      <a:accent2>
        <a:srgbClr val="003057"/>
      </a:accent2>
      <a:accent3>
        <a:srgbClr val="0F4379"/>
      </a:accent3>
      <a:accent4>
        <a:srgbClr val="007DBA"/>
      </a:accent4>
      <a:accent5>
        <a:srgbClr val="5BC2E7"/>
      </a:accent5>
      <a:accent6>
        <a:srgbClr val="FFFFFF"/>
      </a:accent6>
      <a:hlink>
        <a:srgbClr val="0F4379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Cyber_Risk_&amp;_Security" id="{859E77B1-0A8D-4D87-BC64-97828DB24B70}" vid="{22F60A70-1E94-46AF-BF7F-06FD5DF3ACD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5F8FD53D4F3741B68DA7732C17FADC" ma:contentTypeVersion="12" ma:contentTypeDescription="Crée un document." ma:contentTypeScope="" ma:versionID="9ee446d1bd93f735a7b50dd3f2d26f40">
  <xsd:schema xmlns:xsd="http://www.w3.org/2001/XMLSchema" xmlns:xs="http://www.w3.org/2001/XMLSchema" xmlns:p="http://schemas.microsoft.com/office/2006/metadata/properties" xmlns:ns2="e3f3dc06-3cb5-4390-aa5f-91be3b9dd513" xmlns:ns3="2fbd3f14-80fc-406f-9540-2dbc96d55313" targetNamespace="http://schemas.microsoft.com/office/2006/metadata/properties" ma:root="true" ma:fieldsID="23d5c934e3f0693ee8dcb8c70453da63" ns2:_="" ns3:_="">
    <xsd:import namespace="e3f3dc06-3cb5-4390-aa5f-91be3b9dd513"/>
    <xsd:import namespace="2fbd3f14-80fc-406f-9540-2dbc96d553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3dc06-3cb5-4390-aa5f-91be3b9dd5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847d4884-bd92-40df-a728-716cea7b4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d3f14-80fc-406f-9540-2dbc96d5531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f3dc06-3cb5-4390-aa5f-91be3b9dd5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B05E0E-2F1C-43C5-ABA3-AA3AA44259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f3dc06-3cb5-4390-aa5f-91be3b9dd513"/>
    <ds:schemaRef ds:uri="2fbd3f14-80fc-406f-9540-2dbc96d553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0BB67C-65DE-41C7-8744-2DCCF37C90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9AEE9-BE29-4C35-9D1C-D1439C7589E6}">
  <ds:schemaRefs>
    <ds:schemaRef ds:uri="http://schemas.microsoft.com/office/2006/documentManagement/types"/>
    <ds:schemaRef ds:uri="e3f3dc06-3cb5-4390-aa5f-91be3b9dd513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2fbd3f14-80fc-406f-9540-2dbc96d55313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5970</TotalTime>
  <Words>374</Words>
  <Application>Microsoft Office PowerPoint</Application>
  <PresentationFormat>Grand écran</PresentationFormat>
  <Paragraphs>91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4" baseType="lpstr">
      <vt:lpstr>-apple-system</vt:lpstr>
      <vt:lpstr>Arial</vt:lpstr>
      <vt:lpstr>Bodoni 72 Bold</vt:lpstr>
      <vt:lpstr>Browallia New</vt:lpstr>
      <vt:lpstr>Calibri</vt:lpstr>
      <vt:lpstr>Franklin Gothic Book</vt:lpstr>
      <vt:lpstr>Segoe UI</vt:lpstr>
      <vt:lpstr>Wingdings</vt:lpstr>
      <vt:lpstr>2022_HeadMind Partners_Modèles Slides</vt:lpstr>
      <vt:lpstr>Optimizing Sports Betting Strategies in Football through Predictive Modeling and Utility-Based Optimization</vt:lpstr>
      <vt:lpstr>Main Objective</vt:lpstr>
      <vt:lpstr>Concepts</vt:lpstr>
      <vt:lpstr>Concepts</vt:lpstr>
      <vt:lpstr>General Agent-Based Betting Framework</vt:lpstr>
      <vt:lpstr>Utility Function as an objectif to incorporate risk</vt:lpstr>
      <vt:lpstr>General Agent-Based Betting Framework - Objective</vt:lpstr>
      <vt:lpstr>Reduction to the Studied Case – dynamic to static</vt:lpstr>
      <vt:lpstr>Reduction to the Studied Case – dynamic to static</vt:lpstr>
      <vt:lpstr>Design and implementation of the solution</vt:lpstr>
      <vt:lpstr>Data sources</vt:lpstr>
      <vt:lpstr>Features and data set</vt:lpstr>
      <vt:lpstr>Features engineering</vt:lpstr>
      <vt:lpstr>Features selection</vt:lpstr>
      <vt:lpstr>Model selection</vt:lpstr>
      <vt:lpstr>Interpretation</vt:lpstr>
      <vt:lpstr>Retraining of the model</vt:lpstr>
      <vt:lpstr>Investement strategies</vt:lpstr>
      <vt:lpstr>Data source</vt:lpstr>
      <vt:lpstr>Monte carlo simulations – setup </vt:lpstr>
      <vt:lpstr>Monte carlo simulations</vt:lpstr>
      <vt:lpstr>Online testing</vt:lpstr>
      <vt:lpstr>Deployment on AKS</vt:lpstr>
      <vt:lpstr>Demo 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Benard, Florian</dc:creator>
  <cp:lastModifiedBy>Delavande, Julien</cp:lastModifiedBy>
  <cp:revision>62</cp:revision>
  <dcterms:created xsi:type="dcterms:W3CDTF">2024-01-25T10:31:04Z</dcterms:created>
  <dcterms:modified xsi:type="dcterms:W3CDTF">2024-10-11T16:03:05Z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0x010100225F8FD53D4F3741B68DA7732C17FADC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