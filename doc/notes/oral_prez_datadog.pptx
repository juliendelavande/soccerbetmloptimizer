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97" r:id="rId5"/>
    <p:sldId id="329" r:id="rId6"/>
    <p:sldId id="324" r:id="rId7"/>
    <p:sldId id="327" r:id="rId8"/>
    <p:sldId id="319" r:id="rId9"/>
    <p:sldId id="318" r:id="rId10"/>
    <p:sldId id="325" r:id="rId11"/>
    <p:sldId id="302" r:id="rId12"/>
    <p:sldId id="326" r:id="rId13"/>
    <p:sldId id="304" r:id="rId14"/>
    <p:sldId id="321" r:id="rId15"/>
    <p:sldId id="303" r:id="rId16"/>
    <p:sldId id="305" r:id="rId17"/>
    <p:sldId id="306" r:id="rId18"/>
    <p:sldId id="307" r:id="rId19"/>
    <p:sldId id="308" r:id="rId20"/>
    <p:sldId id="328" r:id="rId21"/>
    <p:sldId id="322" r:id="rId22"/>
    <p:sldId id="312" r:id="rId23"/>
    <p:sldId id="313" r:id="rId24"/>
    <p:sldId id="314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0C37BD-E025-50BF-ABAF-5168386DF47A}" name="Rocco, Mila" initials="RM" userId="S::mrocco511@headmind.com::53ccab19-a916-4d94-842a-76ccf24b86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0000"/>
    <a:srgbClr val="00B0F0"/>
    <a:srgbClr val="003057"/>
    <a:srgbClr val="57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60"/>
  </p:normalViewPr>
  <p:slideViewPr>
    <p:cSldViewPr snapToGrid="0">
      <p:cViewPr varScale="1">
        <p:scale>
          <a:sx n="97" d="100"/>
          <a:sy n="97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41D7D-C4D4-4D1E-B52D-BDBC36835D74}" type="datetimeFigureOut">
              <a:rPr lang="fr-FR" smtClean="0"/>
              <a:t>31/10/2024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5A4DC-59D4-4240-8828-69583C22DE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307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AFB5C-83D3-4556-B9B5-93EEEDB806CA}" type="datetimeFigureOut">
              <a:rPr lang="fr-FR" smtClean="0"/>
              <a:t>31/10/2024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FB21A-BDE3-4A4C-94B1-FDAFE52A0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5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0"/>
            <a:ext cx="343535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7" t="14115" r="10010" b="12185"/>
          <a:stretch/>
        </p:blipFill>
        <p:spPr>
          <a:xfrm>
            <a:off x="5526890" y="130652"/>
            <a:ext cx="6658484" cy="672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3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8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8" name="Connecteur droit 17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40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8" name="Connecteur droit 17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07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6" t="799" r="79" b="2577"/>
          <a:stretch/>
        </p:blipFill>
        <p:spPr>
          <a:xfrm>
            <a:off x="-7088" y="0"/>
            <a:ext cx="831275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8" name="Connecteur droit 17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42"/>
          <a:stretch/>
        </p:blipFill>
        <p:spPr>
          <a:xfrm>
            <a:off x="8034984" y="0"/>
            <a:ext cx="3535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5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7" t="14114" r="10010" b="17657"/>
          <a:stretch/>
        </p:blipFill>
        <p:spPr>
          <a:xfrm>
            <a:off x="5533516" y="620143"/>
            <a:ext cx="6658484" cy="62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7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81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32" name="Connecteur droit 31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37" name="Connecteur droit 36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31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6183923" y="1563976"/>
            <a:ext cx="6008077" cy="4450774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  <a:ln w="19050">
            <a:noFill/>
          </a:ln>
        </p:spPr>
        <p:txBody>
          <a:bodyPr tIns="468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2" name="Connecteur droit 11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0" name="Connecteur droit 19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69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0" name="Connecteur droit 19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4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4830" y="1696572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17" name="Espace réservé du texte 11"/>
          <p:cNvSpPr>
            <a:spLocks noGrp="1"/>
          </p:cNvSpPr>
          <p:nvPr userDrawn="1">
            <p:ph type="body" sz="quarter" idx="17"/>
          </p:nvPr>
        </p:nvSpPr>
        <p:spPr>
          <a:xfrm>
            <a:off x="1199209" y="459395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 userDrawn="1">
            <p:ph type="pic" sz="quarter" idx="12"/>
          </p:nvPr>
        </p:nvSpPr>
        <p:spPr>
          <a:xfrm>
            <a:off x="1782319" y="1556792"/>
            <a:ext cx="1980000" cy="209017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10819" y="1696572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22" name="Espace réservé pour une image  7"/>
          <p:cNvSpPr>
            <a:spLocks noGrp="1"/>
          </p:cNvSpPr>
          <p:nvPr userDrawn="1">
            <p:ph type="pic" sz="quarter" idx="18"/>
          </p:nvPr>
        </p:nvSpPr>
        <p:spPr>
          <a:xfrm>
            <a:off x="5031273" y="1553644"/>
            <a:ext cx="1980000" cy="208021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2224" y="1702220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26" name="Espace réservé pour une image  7"/>
          <p:cNvSpPr>
            <a:spLocks noGrp="1"/>
          </p:cNvSpPr>
          <p:nvPr userDrawn="1">
            <p:ph type="pic" sz="quarter" idx="19"/>
          </p:nvPr>
        </p:nvSpPr>
        <p:spPr>
          <a:xfrm>
            <a:off x="8328247" y="1553644"/>
            <a:ext cx="1980000" cy="208021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445198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7746603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1198563" y="4264025"/>
            <a:ext cx="2784475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4445000" y="4248150"/>
            <a:ext cx="2784475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7747000" y="4248150"/>
            <a:ext cx="2782888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3" name="Connecteur droit 22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32" name="Connecteur droit 31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85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/>
          <p:cNvSpPr/>
          <p:nvPr userDrawn="1"/>
        </p:nvSpPr>
        <p:spPr>
          <a:xfrm>
            <a:off x="15579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7001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5" name="Ellipse 14"/>
          <p:cNvSpPr/>
          <p:nvPr userDrawn="1"/>
        </p:nvSpPr>
        <p:spPr>
          <a:xfrm>
            <a:off x="51583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 hasCustomPrompt="1"/>
          </p:nvPr>
        </p:nvSpPr>
        <p:spPr>
          <a:xfrm>
            <a:off x="53005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7" name="Ellipse 16"/>
          <p:cNvSpPr/>
          <p:nvPr userDrawn="1"/>
        </p:nvSpPr>
        <p:spPr>
          <a:xfrm>
            <a:off x="87587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 hasCustomPrompt="1"/>
          </p:nvPr>
        </p:nvSpPr>
        <p:spPr>
          <a:xfrm>
            <a:off x="89009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983020" y="425707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604389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8233057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982339" y="3927141"/>
            <a:ext cx="3062923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4604156" y="3911266"/>
            <a:ext cx="3062923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8233499" y="3911266"/>
            <a:ext cx="3061177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0" name="Connecteur droit 19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33" name="Connecteur droit 32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431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xte-Enjeux-Objectif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517793" y="188640"/>
            <a:ext cx="11147158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527382" y="1654298"/>
            <a:ext cx="5760000" cy="2542060"/>
          </a:xfrm>
          <a:ln w="19050">
            <a:solidFill>
              <a:srgbClr val="C00000"/>
            </a:solidFill>
          </a:ln>
        </p:spPr>
        <p:txBody>
          <a:bodyPr lIns="108000" tIns="252000" rIns="1080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1206710" y="1496197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6624619" y="1654297"/>
            <a:ext cx="5040000" cy="2542060"/>
          </a:xfrm>
          <a:ln w="19050">
            <a:solidFill>
              <a:srgbClr val="C00000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963134" y="1512020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731520" y="4711052"/>
            <a:ext cx="10933099" cy="1364312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868613" indent="-28575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5" name="Connecteur droit 14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2" name="Connecteur droit 21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604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 userDrawn="1"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 userDrawn="1"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 userDrawn="1"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7" name="Connecteur droit 26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282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2409552" y="1342359"/>
            <a:ext cx="4070770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7199059" y="1342359"/>
            <a:ext cx="4477385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2409317" y="2158521"/>
            <a:ext cx="4070350" cy="542925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7199059" y="2133121"/>
            <a:ext cx="4477385" cy="62706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2409317" y="3172682"/>
            <a:ext cx="40703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7199376" y="3172682"/>
            <a:ext cx="44767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 hasCustomPrompt="1"/>
          </p:nvPr>
        </p:nvSpPr>
        <p:spPr>
          <a:xfrm>
            <a:off x="2409317" y="4486942"/>
            <a:ext cx="40703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 hasCustomPrompt="1"/>
          </p:nvPr>
        </p:nvSpPr>
        <p:spPr>
          <a:xfrm>
            <a:off x="7199376" y="4486942"/>
            <a:ext cx="44767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Deuxième niveau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3287240"/>
            <a:ext cx="720000" cy="68821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2112157"/>
            <a:ext cx="720000" cy="66899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4829445"/>
            <a:ext cx="720000" cy="628738"/>
          </a:xfrm>
          <a:prstGeom prst="rect">
            <a:avLst/>
          </a:prstGeom>
        </p:spPr>
      </p:pic>
      <p:cxnSp>
        <p:nvCxnSpPr>
          <p:cNvPr id="20" name="Connecteur droit 19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40" name="Connecteur droit 39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00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3951" y="135475"/>
            <a:ext cx="9404707" cy="49716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11908" y="1410491"/>
            <a:ext cx="3346860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1000" b="1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126272" y="2966004"/>
            <a:ext cx="7525047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1000" b="1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133088" y="1410491"/>
            <a:ext cx="7525047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1000" b="1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2254102" y="632635"/>
            <a:ext cx="9404033" cy="47633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844486" y="142805"/>
            <a:ext cx="993939" cy="97292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511175" y="1786270"/>
            <a:ext cx="3348038" cy="4358943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4133850" y="1786270"/>
            <a:ext cx="7515225" cy="1020249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4126272" y="3338623"/>
            <a:ext cx="7532328" cy="2806590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9" name="Connecteur droit 28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084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2640413" y="1460808"/>
            <a:ext cx="9024538" cy="684212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2640013" y="243534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2634238" y="340097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673403" y="434513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673403" y="534566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5" name="Connecteur droit 44"/>
          <p:cNvCxnSpPr/>
          <p:nvPr userDrawn="1"/>
        </p:nvCxnSpPr>
        <p:spPr>
          <a:xfrm>
            <a:off x="1374588" y="180291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 userDrawn="1"/>
        </p:nvCxnSpPr>
        <p:spPr>
          <a:xfrm>
            <a:off x="1366132" y="279570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 userDrawn="1"/>
        </p:nvCxnSpPr>
        <p:spPr>
          <a:xfrm>
            <a:off x="1365278" y="3761336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1345589" y="570602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>
            <a:off x="1366133" y="4725497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Image 4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3429902"/>
            <a:ext cx="576000" cy="633856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1506190"/>
            <a:ext cx="576000" cy="635341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2514657"/>
            <a:ext cx="576000" cy="562094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4564107"/>
            <a:ext cx="576000" cy="400708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5428107"/>
            <a:ext cx="576000" cy="515328"/>
          </a:xfrm>
          <a:prstGeom prst="rect">
            <a:avLst/>
          </a:prstGeom>
        </p:spPr>
      </p:pic>
      <p:cxnSp>
        <p:nvCxnSpPr>
          <p:cNvPr id="21" name="Connecteur droit 20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5" name="Connecteur droit 24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125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511910" y="1426909"/>
            <a:ext cx="11152708" cy="1106487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527050" y="2825496"/>
            <a:ext cx="11137900" cy="2990850"/>
          </a:xfrm>
          <a:ln w="19050">
            <a:solidFill>
              <a:srgbClr val="C00000"/>
            </a:solidFill>
          </a:ln>
        </p:spPr>
        <p:txBody>
          <a:bodyPr tIns="21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3882031" y="2574671"/>
            <a:ext cx="4427938" cy="5016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7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053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/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>
          <a:xfrm>
            <a:off x="8836025" y="6407150"/>
            <a:ext cx="2844800" cy="365125"/>
          </a:xfrm>
        </p:spPr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02C566C8-D2E2-4979-81FE-6F1627C9E0A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r>
              <a:rPr lang="fr-FR"/>
              <a:t>2024 | ©</a:t>
            </a:r>
            <a:r>
              <a:rPr lang="fr-FR" err="1"/>
              <a:t>HeadMind</a:t>
            </a:r>
            <a:r>
              <a:rPr lang="fr-FR"/>
              <a:t> </a:t>
            </a:r>
            <a:r>
              <a:rPr lang="fr-FR" err="1"/>
              <a:t>Partners</a:t>
            </a:r>
            <a:r>
              <a:rPr lang="fr-FR"/>
              <a:t> AI &amp; </a:t>
            </a:r>
            <a:r>
              <a:rPr lang="fr-FR" err="1"/>
              <a:t>Blockchain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206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4FFB720-E276-4088-AD58-4114EB1992FB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330200"/>
            <a:ext cx="4183063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CCFC9B61-2EE3-42BD-8A07-04EC2A88228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264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 flipH="1">
            <a:off x="3886200" y="2101850"/>
            <a:ext cx="1588" cy="19939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871663"/>
            <a:ext cx="25050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4439816" y="2103019"/>
            <a:ext cx="6696744" cy="2041065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2860AC19-DB94-4543-8BC6-B20AA217041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r>
              <a:rPr lang="fr-FR"/>
              <a:t>2024 | ©</a:t>
            </a:r>
            <a:r>
              <a:rPr lang="fr-FR" err="1"/>
              <a:t>HeadMind</a:t>
            </a:r>
            <a:r>
              <a:rPr lang="fr-FR"/>
              <a:t> </a:t>
            </a:r>
            <a:r>
              <a:rPr lang="fr-FR" err="1"/>
              <a:t>Partners</a:t>
            </a:r>
            <a:r>
              <a:rPr lang="fr-FR"/>
              <a:t> AI &amp; </a:t>
            </a:r>
            <a:r>
              <a:rPr lang="fr-FR" err="1"/>
              <a:t>Blockchain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96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</p:spTree>
    <p:extLst>
      <p:ext uri="{BB962C8B-B14F-4D97-AF65-F5344CB8AC3E}">
        <p14:creationId xmlns:p14="http://schemas.microsoft.com/office/powerpoint/2010/main" val="42842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4" r:id="rId3"/>
    <p:sldLayoutId id="2147483692" r:id="rId4"/>
    <p:sldLayoutId id="2147483696" r:id="rId5"/>
    <p:sldLayoutId id="2147483693" r:id="rId6"/>
    <p:sldLayoutId id="2147483695" r:id="rId7"/>
    <p:sldLayoutId id="2147483662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8" r:id="rId14"/>
    <p:sldLayoutId id="2147483675" r:id="rId15"/>
    <p:sldLayoutId id="2147483676" r:id="rId16"/>
    <p:sldLayoutId id="2147483677" r:id="rId17"/>
    <p:sldLayoutId id="2147483679" r:id="rId18"/>
    <p:sldLayoutId id="2147483681" r:id="rId19"/>
    <p:sldLayoutId id="2147483697" r:id="rId20"/>
    <p:sldLayoutId id="2147483698" r:id="rId21"/>
    <p:sldLayoutId id="2147483699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optibet.delavande.fr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0FA8D6C-13DE-8935-2421-20BCA3F92A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5834" y="368914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en-US" sz="44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Betting on Data: How to Build a Winning Football Prediction Model</a:t>
            </a:r>
          </a:p>
        </p:txBody>
      </p:sp>
      <p:pic>
        <p:nvPicPr>
          <p:cNvPr id="1028" name="Picture 4" descr="Football and Data Science">
            <a:extLst>
              <a:ext uri="{FF2B5EF4-FFF2-40B4-BE49-F238E27FC236}">
                <a16:creationId xmlns:a16="http://schemas.microsoft.com/office/drawing/2014/main" id="{C37CEED2-5009-C67B-5F57-623D9FA4C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34" y="2060063"/>
            <a:ext cx="8790039" cy="374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257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Context</a:t>
            </a:r>
            <a:r>
              <a:rPr lang="fr-FR" dirty="0"/>
              <a:t> – End of </a:t>
            </a:r>
            <a:r>
              <a:rPr lang="fr-FR" dirty="0" err="1"/>
              <a:t>study</a:t>
            </a:r>
            <a:r>
              <a:rPr lang="fr-FR" dirty="0"/>
              <a:t> </a:t>
            </a:r>
            <a:r>
              <a:rPr lang="fr-FR" dirty="0" err="1"/>
              <a:t>internship</a:t>
            </a:r>
            <a:r>
              <a:rPr lang="fr-FR" dirty="0"/>
              <a:t> of ISAE-SUPAERO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Headmind</a:t>
            </a:r>
            <a:r>
              <a:rPr lang="fr-FR" dirty="0"/>
              <a:t> AI</a:t>
            </a:r>
            <a:br>
              <a:rPr lang="fr-FR" dirty="0"/>
            </a:br>
            <a:r>
              <a:rPr lang="fr-FR" sz="2000" dirty="0"/>
              <a:t>Duration: 6 </a:t>
            </a:r>
            <a:r>
              <a:rPr lang="fr-FR" sz="2000" dirty="0" err="1"/>
              <a:t>months</a:t>
            </a:r>
            <a:r>
              <a:rPr lang="fr-FR" sz="2000" dirty="0"/>
              <a:t> – March – </a:t>
            </a:r>
            <a:r>
              <a:rPr lang="fr-FR" sz="2000" dirty="0" err="1"/>
              <a:t>September</a:t>
            </a:r>
            <a:r>
              <a:rPr lang="fr-FR" sz="2000" dirty="0"/>
              <a:t> 2024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pic>
        <p:nvPicPr>
          <p:cNvPr id="11" name="Picture 2" descr="ISAE-SUPAERO – PEGASUS">
            <a:extLst>
              <a:ext uri="{FF2B5EF4-FFF2-40B4-BE49-F238E27FC236}">
                <a16:creationId xmlns:a16="http://schemas.microsoft.com/office/drawing/2014/main" id="{809EED31-9205-713C-1290-0D83DC00B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840" y="1918987"/>
            <a:ext cx="2746081" cy="166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7C921C9-529E-76E2-99D9-312A21C81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96" y="1932466"/>
            <a:ext cx="2453853" cy="2484335"/>
          </a:xfrm>
          <a:prstGeom prst="rect">
            <a:avLst/>
          </a:prstGeom>
        </p:spPr>
      </p:pic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019F6287-76DA-8E17-A39A-0A2448C6B4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1910" y="4656768"/>
            <a:ext cx="3623992" cy="1279526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 err="1">
                <a:solidFill>
                  <a:srgbClr val="3B3B3B"/>
                </a:solidFill>
                <a:effectLst/>
                <a:latin typeface="-apple-system"/>
              </a:rPr>
              <a:t>MLOps</a:t>
            </a:r>
            <a:r>
              <a:rPr lang="en-US" b="0" i="0" dirty="0">
                <a:solidFill>
                  <a:srgbClr val="3B3B3B"/>
                </a:solidFill>
                <a:effectLst/>
                <a:latin typeface="-apple-system"/>
              </a:rPr>
              <a:t> department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3B3B3B"/>
                </a:solidFill>
                <a:latin typeface="-apple-system"/>
              </a:rPr>
              <a:t>Working alone under the supervision of a Senior Data Scientist</a:t>
            </a:r>
            <a:endParaRPr lang="en-US" sz="1600" b="0" i="0" dirty="0">
              <a:solidFill>
                <a:srgbClr val="3B3B3B"/>
              </a:solidFill>
              <a:effectLst/>
              <a:latin typeface="-apple-system"/>
            </a:endParaRP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30F7D84-CB28-E991-AFD5-FD1DFE7B6062}"/>
              </a:ext>
            </a:extLst>
          </p:cNvPr>
          <p:cNvSpPr txBox="1">
            <a:spLocks/>
          </p:cNvSpPr>
          <p:nvPr/>
        </p:nvSpPr>
        <p:spPr bwMode="auto">
          <a:xfrm>
            <a:off x="4344839" y="3850692"/>
            <a:ext cx="2746081" cy="748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-apple-system"/>
              </a:rPr>
              <a:t>Major: Data Science and computer science</a:t>
            </a:r>
          </a:p>
        </p:txBody>
      </p:sp>
      <p:pic>
        <p:nvPicPr>
          <p:cNvPr id="16" name="Picture 2" descr="Target - Free marketing icons">
            <a:extLst>
              <a:ext uri="{FF2B5EF4-FFF2-40B4-BE49-F238E27FC236}">
                <a16:creationId xmlns:a16="http://schemas.microsoft.com/office/drawing/2014/main" id="{025590A8-94E2-4888-70DB-C79597837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031" y="1918987"/>
            <a:ext cx="1592535" cy="159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96A34657-C1E3-ED84-3F8A-30D84DD91B93}"/>
              </a:ext>
            </a:extLst>
          </p:cNvPr>
          <p:cNvSpPr txBox="1">
            <a:spLocks/>
          </p:cNvSpPr>
          <p:nvPr/>
        </p:nvSpPr>
        <p:spPr bwMode="auto">
          <a:xfrm>
            <a:off x="8056100" y="3584943"/>
            <a:ext cx="3888248" cy="175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Exploring </a:t>
            </a:r>
            <a:r>
              <a:rPr lang="en-US" sz="1400" dirty="0" err="1"/>
              <a:t>MLOps</a:t>
            </a:r>
            <a:r>
              <a:rPr lang="en-US" sz="1400" dirty="0"/>
              <a:t> practices and cloud deployment solutions to enable data science projects to be pushed to production, run continuously, monitored, and updated.</a:t>
            </a:r>
            <a:endParaRPr lang="en-US" sz="1400" dirty="0">
              <a:solidFill>
                <a:srgbClr val="3B3B3B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2913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Objective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486188" y="1494561"/>
            <a:ext cx="11137237" cy="63000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B3B3B"/>
                </a:solidFill>
                <a:effectLst/>
                <a:latin typeface="-apple-system"/>
              </a:rPr>
              <a:t>Develop a comprehensive system to optimize sports betting strategies in football.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pic>
        <p:nvPicPr>
          <p:cNvPr id="6" name="Image 5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872FA5EA-4819-C848-6A6A-137B3286E5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12287" r="2273" b="4437"/>
          <a:stretch/>
        </p:blipFill>
        <p:spPr>
          <a:xfrm>
            <a:off x="5712562" y="2478718"/>
            <a:ext cx="5230741" cy="30785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B4031B4-266A-2588-F076-1F7E6CC8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56" y="2738475"/>
            <a:ext cx="3770953" cy="262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3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479" y="1140541"/>
            <a:ext cx="11153041" cy="1944291"/>
          </a:xfrm>
        </p:spPr>
        <p:txBody>
          <a:bodyPr/>
          <a:lstStyle/>
          <a:p>
            <a:r>
              <a:rPr lang="fr-FR" sz="6000" dirty="0"/>
              <a:t>I – </a:t>
            </a:r>
            <a:r>
              <a:rPr lang="fr-FR" sz="6000" dirty="0" err="1"/>
              <a:t>Developping</a:t>
            </a:r>
            <a:r>
              <a:rPr lang="fr-FR" sz="6000" dirty="0"/>
              <a:t> a </a:t>
            </a:r>
            <a:r>
              <a:rPr lang="fr-FR" sz="6000" dirty="0" err="1"/>
              <a:t>theoritical</a:t>
            </a:r>
            <a:r>
              <a:rPr lang="fr-FR" sz="6000" dirty="0"/>
              <a:t> </a:t>
            </a:r>
            <a:r>
              <a:rPr lang="fr-FR" sz="6000" dirty="0" err="1"/>
              <a:t>framework</a:t>
            </a:r>
            <a:endParaRPr lang="fr-FR" sz="6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pic>
        <p:nvPicPr>
          <p:cNvPr id="4098" name="Picture 2" descr="Paper - Free files and folders icons">
            <a:extLst>
              <a:ext uri="{FF2B5EF4-FFF2-40B4-BE49-F238E27FC236}">
                <a16:creationId xmlns:a16="http://schemas.microsoft.com/office/drawing/2014/main" id="{DF4414F6-795D-4268-DCBB-BAF63746B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710" y="3429000"/>
            <a:ext cx="2587267" cy="258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45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sp>
        <p:nvSpPr>
          <p:cNvPr id="7" name="AutoShape 2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6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1" name="Image 10" descr="Une image contenant texte, diagramme, capture d’écran, Plan&#10;&#10;Description générée automatiquement">
            <a:extLst>
              <a:ext uri="{FF2B5EF4-FFF2-40B4-BE49-F238E27FC236}">
                <a16:creationId xmlns:a16="http://schemas.microsoft.com/office/drawing/2014/main" id="{6179ABD8-7321-7180-C6B4-8A96D8D9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983" y="1284251"/>
            <a:ext cx="5730719" cy="53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3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sp>
        <p:nvSpPr>
          <p:cNvPr id="7" name="AutoShape 2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6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0" name="Image 9" descr="Une image contenant texte, diagramme, Plan, Dessin technique&#10;&#10;Description générée automatiquement">
            <a:extLst>
              <a:ext uri="{FF2B5EF4-FFF2-40B4-BE49-F238E27FC236}">
                <a16:creationId xmlns:a16="http://schemas.microsoft.com/office/drawing/2014/main" id="{181441F3-F57B-E4D0-37A3-42F179625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330625"/>
            <a:ext cx="1084897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6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sp>
        <p:nvSpPr>
          <p:cNvPr id="7" name="AutoShape 2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6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A85B33B-C5A6-3C1C-7E5E-DDAFE055A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486" y="1904107"/>
            <a:ext cx="8353888" cy="367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11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and implementation of the solution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B4031B4-266A-2588-F076-1F7E6CC8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67" y="1208469"/>
            <a:ext cx="7508730" cy="522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5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479" y="1219199"/>
            <a:ext cx="11153041" cy="1944291"/>
          </a:xfrm>
        </p:spPr>
        <p:txBody>
          <a:bodyPr/>
          <a:lstStyle/>
          <a:p>
            <a:r>
              <a:rPr lang="fr-FR" sz="6000" dirty="0"/>
              <a:t>II - Building the </a:t>
            </a:r>
            <a:r>
              <a:rPr lang="fr-FR" sz="6000" dirty="0" err="1"/>
              <a:t>prediction</a:t>
            </a:r>
            <a:r>
              <a:rPr lang="fr-FR" sz="6000" dirty="0"/>
              <a:t> model and </a:t>
            </a:r>
            <a:r>
              <a:rPr lang="fr-FR" sz="6000" dirty="0" err="1"/>
              <a:t>maintaning</a:t>
            </a:r>
            <a:r>
              <a:rPr lang="fr-FR" sz="6000" dirty="0"/>
              <a:t> </a:t>
            </a:r>
            <a:r>
              <a:rPr lang="fr-FR" sz="6000" dirty="0" err="1"/>
              <a:t>it</a:t>
            </a:r>
            <a:endParaRPr lang="fr-FR" sz="6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pic>
        <p:nvPicPr>
          <p:cNvPr id="5122" name="Picture 2" descr="Prediction - Free technology icons">
            <a:extLst>
              <a:ext uri="{FF2B5EF4-FFF2-40B4-BE49-F238E27FC236}">
                <a16:creationId xmlns:a16="http://schemas.microsoft.com/office/drawing/2014/main" id="{23485F60-5DEA-46F9-0A11-E96B70394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1" y="3163490"/>
            <a:ext cx="2772697" cy="277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6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152650"/>
            <a:ext cx="5518691" cy="3866744"/>
          </a:xfrm>
          <a:prstGeom prst="rect">
            <a:avLst/>
          </a:prstGeom>
        </p:spPr>
      </p:pic>
      <p:sp>
        <p:nvSpPr>
          <p:cNvPr id="8" name="AutoShape 2" descr="Which Are The Best Football Analysis Websites? - Mad About Spor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402435"/>
            <a:ext cx="3196103" cy="624076"/>
          </a:xfrm>
          <a:prstGeom prst="rect">
            <a:avLst/>
          </a:prstGeom>
        </p:spPr>
      </p:pic>
      <p:pic>
        <p:nvPicPr>
          <p:cNvPr id="1026" name="Picture 2" descr="Tweets with replies by SoFIFA.com (@SoFIFA) / Twitter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73" y="1260201"/>
            <a:ext cx="777438" cy="77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381" y="2152650"/>
            <a:ext cx="5738235" cy="3737232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7075357" y="1391308"/>
            <a:ext cx="192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SOFIFA</a:t>
            </a:r>
          </a:p>
        </p:txBody>
      </p:sp>
    </p:spTree>
    <p:extLst>
      <p:ext uri="{BB962C8B-B14F-4D97-AF65-F5344CB8AC3E}">
        <p14:creationId xmlns:p14="http://schemas.microsoft.com/office/powerpoint/2010/main" val="386256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data set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42D4A9A-31E8-2723-A70A-3A285CBF2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3" y="1543034"/>
            <a:ext cx="5297776" cy="440197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1E0CD2-23DC-BD6A-74C9-02AF3E0691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11" t="-1980" b="38425"/>
          <a:stretch/>
        </p:blipFill>
        <p:spPr>
          <a:xfrm>
            <a:off x="6714623" y="1400175"/>
            <a:ext cx="4451351" cy="405765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6584449" y="6028804"/>
            <a:ext cx="4711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rgbClr val="000000"/>
                </a:solidFill>
              </a:rPr>
              <a:t>SoFifa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features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evolving</a:t>
            </a:r>
            <a:r>
              <a:rPr lang="fr-FR" sz="1400" dirty="0">
                <a:solidFill>
                  <a:srgbClr val="000000"/>
                </a:solidFill>
              </a:rPr>
              <a:t> </a:t>
            </a:r>
            <a:r>
              <a:rPr lang="fr-FR" sz="1400" dirty="0" err="1">
                <a:solidFill>
                  <a:srgbClr val="000000"/>
                </a:solidFill>
              </a:rPr>
              <a:t>during</a:t>
            </a:r>
            <a:r>
              <a:rPr lang="fr-FR" sz="1400" dirty="0">
                <a:solidFill>
                  <a:srgbClr val="000000"/>
                </a:solidFill>
              </a:rPr>
              <a:t> time for 5 football teams</a:t>
            </a:r>
          </a:p>
        </p:txBody>
      </p:sp>
    </p:spTree>
    <p:extLst>
      <p:ext uri="{BB962C8B-B14F-4D97-AF65-F5344CB8AC3E}">
        <p14:creationId xmlns:p14="http://schemas.microsoft.com/office/powerpoint/2010/main" val="813798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engineering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1E0CD2-23DC-BD6A-74C9-02AF3E0691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0" r="49688" b="38021"/>
          <a:stretch/>
        </p:blipFill>
        <p:spPr>
          <a:xfrm>
            <a:off x="5866424" y="1359920"/>
            <a:ext cx="5340349" cy="47681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517EEAE-D2D3-4A76-5C40-2BF93E552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84" y="1978584"/>
            <a:ext cx="5488840" cy="353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0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selection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65A08E2-12E2-74C6-B960-749DBECA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4" y="4706083"/>
            <a:ext cx="3250572" cy="149666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3F220C1-EA63-C4F7-E50B-21EC612AB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297" y="1676564"/>
            <a:ext cx="5089470" cy="270931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326DB3A-3D37-297F-AC6C-35BB1519C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12312"/>
            <a:ext cx="7016297" cy="2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89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BA4BA4-7706-0548-2ECC-149B70D9C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1" y="1700389"/>
            <a:ext cx="9625379" cy="39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0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Interpretation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72481F-FA04-FB75-F42E-FBFB35C7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230" y="1484629"/>
            <a:ext cx="9550400" cy="45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53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Retraining</a:t>
            </a:r>
            <a:r>
              <a:rPr lang="fr-FR" dirty="0"/>
              <a:t> of the model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grpSp>
        <p:nvGrpSpPr>
          <p:cNvPr id="8" name="Groupe 7"/>
          <p:cNvGrpSpPr/>
          <p:nvPr/>
        </p:nvGrpSpPr>
        <p:grpSpPr>
          <a:xfrm>
            <a:off x="1199442" y="1278950"/>
            <a:ext cx="9777976" cy="4930139"/>
            <a:chOff x="1263650" y="1419819"/>
            <a:chExt cx="9182100" cy="4561501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7C5D5167-C696-929E-EC29-CBBE37C63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914"/>
            <a:stretch/>
          </p:blipFill>
          <p:spPr>
            <a:xfrm>
              <a:off x="1263650" y="1419819"/>
              <a:ext cx="9182100" cy="4561501"/>
            </a:xfrm>
            <a:prstGeom prst="rect">
              <a:avLst/>
            </a:prstGeom>
          </p:spPr>
        </p:pic>
        <p:sp>
          <p:nvSpPr>
            <p:cNvPr id="3" name="ZoneTexte 2"/>
            <p:cNvSpPr txBox="1"/>
            <p:nvPr/>
          </p:nvSpPr>
          <p:spPr>
            <a:xfrm rot="16200000">
              <a:off x="1833518" y="3697332"/>
              <a:ext cx="488950" cy="2189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800" b="1" dirty="0">
                  <a:solidFill>
                    <a:srgbClr val="000000"/>
                  </a:solidFill>
                </a:rPr>
                <a:t>MSE</a:t>
              </a:r>
              <a:endParaRPr lang="fr-FR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05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479" y="1219199"/>
            <a:ext cx="11153041" cy="1944291"/>
          </a:xfrm>
        </p:spPr>
        <p:txBody>
          <a:bodyPr/>
          <a:lstStyle/>
          <a:p>
            <a:r>
              <a:rPr lang="fr-FR" sz="6000" dirty="0"/>
              <a:t>III – </a:t>
            </a:r>
            <a:r>
              <a:rPr lang="fr-FR" sz="6000" dirty="0" err="1"/>
              <a:t>Investement</a:t>
            </a:r>
            <a:r>
              <a:rPr lang="fr-FR" sz="6000" dirty="0"/>
              <a:t> </a:t>
            </a:r>
            <a:r>
              <a:rPr lang="fr-FR" sz="6000" dirty="0" err="1"/>
              <a:t>strategy</a:t>
            </a:r>
            <a:r>
              <a:rPr lang="fr-FR" sz="6000" dirty="0"/>
              <a:t> (</a:t>
            </a:r>
            <a:r>
              <a:rPr lang="fr-FR" sz="6000" dirty="0" err="1"/>
              <a:t>optimizing</a:t>
            </a:r>
            <a:r>
              <a:rPr lang="fr-FR" sz="6000" dirty="0"/>
              <a:t>) and </a:t>
            </a:r>
            <a:r>
              <a:rPr lang="fr-FR" sz="6000" dirty="0" err="1"/>
              <a:t>testing</a:t>
            </a:r>
            <a:endParaRPr lang="fr-FR" sz="6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pic>
        <p:nvPicPr>
          <p:cNvPr id="6146" name="Picture 2" descr="Investment Strategy - Portugal Ventures">
            <a:extLst>
              <a:ext uri="{FF2B5EF4-FFF2-40B4-BE49-F238E27FC236}">
                <a16:creationId xmlns:a16="http://schemas.microsoft.com/office/drawing/2014/main" id="{8084A06E-ED46-B447-1704-4545062C0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952" y="2727377"/>
            <a:ext cx="3405494" cy="340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6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source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pic>
        <p:nvPicPr>
          <p:cNvPr id="2050" name="Picture 2" descr="Sports Odds API | The Odds A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93" y="1415155"/>
            <a:ext cx="4505325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218" y="1310337"/>
            <a:ext cx="5681127" cy="486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1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Online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B91742-CBC4-0050-8B2C-3AF48B16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8" y="1504857"/>
            <a:ext cx="4922947" cy="213378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0690214-22D6-0678-0AD0-150FD723C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47" y="1762801"/>
            <a:ext cx="6287045" cy="38712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0D0298C-FA69-27B3-BCD6-3A94F45B8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79" y="4191576"/>
            <a:ext cx="5225734" cy="14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57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Deployment</a:t>
            </a:r>
            <a:r>
              <a:rPr lang="fr-FR" dirty="0"/>
              <a:t> on AKS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D02E6C-62DB-ED16-4B6B-1026928311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9" t="5658" r="9543"/>
          <a:stretch/>
        </p:blipFill>
        <p:spPr>
          <a:xfrm>
            <a:off x="2908553" y="1246877"/>
            <a:ext cx="6322142" cy="537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69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Demo</a:t>
            </a:r>
            <a:r>
              <a:rPr lang="fr-FR" dirty="0"/>
              <a:t>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1F148CB-57E0-2FA3-FECA-B9DFB165585D}"/>
              </a:ext>
            </a:extLst>
          </p:cNvPr>
          <p:cNvSpPr txBox="1"/>
          <p:nvPr/>
        </p:nvSpPr>
        <p:spPr>
          <a:xfrm>
            <a:off x="2497393" y="2841211"/>
            <a:ext cx="70202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>
                <a:hlinkClick r:id="rId2"/>
              </a:rPr>
              <a:t>https://optibet.delavande.fr/</a:t>
            </a:r>
            <a:endParaRPr lang="fr-FR" sz="4000" dirty="0"/>
          </a:p>
          <a:p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271694285"/>
      </p:ext>
    </p:extLst>
  </p:cSld>
  <p:clrMapOvr>
    <a:masterClrMapping/>
  </p:clrMapOvr>
</p:sld>
</file>

<file path=ppt/theme/theme1.xml><?xml version="1.0" encoding="utf-8"?>
<a:theme xmlns:a="http://schemas.openxmlformats.org/drawingml/2006/main" name="2022_HeadMind Partners_Modèles Slides">
  <a:themeElements>
    <a:clrScheme name="Charte HeadMind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263A"/>
      </a:accent1>
      <a:accent2>
        <a:srgbClr val="003057"/>
      </a:accent2>
      <a:accent3>
        <a:srgbClr val="0F4379"/>
      </a:accent3>
      <a:accent4>
        <a:srgbClr val="007DBA"/>
      </a:accent4>
      <a:accent5>
        <a:srgbClr val="5BC2E7"/>
      </a:accent5>
      <a:accent6>
        <a:srgbClr val="FFFFFF"/>
      </a:accent6>
      <a:hlink>
        <a:srgbClr val="0F4379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Cyber_Risk_&amp;_Security" id="{859E77B1-0A8D-4D87-BC64-97828DB24B70}" vid="{22F60A70-1E94-46AF-BF7F-06FD5DF3ACD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5F8FD53D4F3741B68DA7732C17FADC" ma:contentTypeVersion="12" ma:contentTypeDescription="Crée un document." ma:contentTypeScope="" ma:versionID="9ee446d1bd93f735a7b50dd3f2d26f40">
  <xsd:schema xmlns:xsd="http://www.w3.org/2001/XMLSchema" xmlns:xs="http://www.w3.org/2001/XMLSchema" xmlns:p="http://schemas.microsoft.com/office/2006/metadata/properties" xmlns:ns2="e3f3dc06-3cb5-4390-aa5f-91be3b9dd513" xmlns:ns3="2fbd3f14-80fc-406f-9540-2dbc96d55313" targetNamespace="http://schemas.microsoft.com/office/2006/metadata/properties" ma:root="true" ma:fieldsID="23d5c934e3f0693ee8dcb8c70453da63" ns2:_="" ns3:_="">
    <xsd:import namespace="e3f3dc06-3cb5-4390-aa5f-91be3b9dd513"/>
    <xsd:import namespace="2fbd3f14-80fc-406f-9540-2dbc96d553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3dc06-3cb5-4390-aa5f-91be3b9dd5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847d4884-bd92-40df-a728-716cea7b4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d3f14-80fc-406f-9540-2dbc96d5531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f3dc06-3cb5-4390-aa5f-91be3b9dd5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D0BB67C-65DE-41C7-8744-2DCCF37C90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B05E0E-2F1C-43C5-ABA3-AA3AA4425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f3dc06-3cb5-4390-aa5f-91be3b9dd513"/>
    <ds:schemaRef ds:uri="2fbd3f14-80fc-406f-9540-2dbc96d553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89AEE9-BE29-4C35-9D1C-D1439C7589E6}">
  <ds:schemaRefs>
    <ds:schemaRef ds:uri="http://schemas.microsoft.com/office/2006/documentManagement/types"/>
    <ds:schemaRef ds:uri="e3f3dc06-3cb5-4390-aa5f-91be3b9dd513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fbd3f14-80fc-406f-9540-2dbc96d55313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6224</TotalTime>
  <Words>190</Words>
  <Application>Microsoft Office PowerPoint</Application>
  <PresentationFormat>Grand écran</PresentationFormat>
  <Paragraphs>50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1" baseType="lpstr">
      <vt:lpstr>-apple-system</vt:lpstr>
      <vt:lpstr>Arial</vt:lpstr>
      <vt:lpstr>Bodoni 72 Bold</vt:lpstr>
      <vt:lpstr>Browallia New</vt:lpstr>
      <vt:lpstr>Calibri</vt:lpstr>
      <vt:lpstr>Franklin Gothic Book</vt:lpstr>
      <vt:lpstr>Open Sans</vt:lpstr>
      <vt:lpstr>Segoe UI</vt:lpstr>
      <vt:lpstr>Wingdings</vt:lpstr>
      <vt:lpstr>2022_HeadMind Partners_Modèles Slides</vt:lpstr>
      <vt:lpstr>Présentation PowerPoint</vt:lpstr>
      <vt:lpstr>Context – End of study internship of ISAE-SUPAERO within Headmind AI Duration: 6 months – March – September 2024</vt:lpstr>
      <vt:lpstr>Main Objective</vt:lpstr>
      <vt:lpstr>I – Developping a theoritical framework</vt:lpstr>
      <vt:lpstr>Framework</vt:lpstr>
      <vt:lpstr>Framework</vt:lpstr>
      <vt:lpstr>Framework</vt:lpstr>
      <vt:lpstr>Design and implementation of the solution</vt:lpstr>
      <vt:lpstr>II - Building the prediction model and maintaning it</vt:lpstr>
      <vt:lpstr>Data sources</vt:lpstr>
      <vt:lpstr>Features and data set</vt:lpstr>
      <vt:lpstr>Features engineering</vt:lpstr>
      <vt:lpstr>Features selection</vt:lpstr>
      <vt:lpstr>Model selection</vt:lpstr>
      <vt:lpstr>Interpretation</vt:lpstr>
      <vt:lpstr>Retraining of the model</vt:lpstr>
      <vt:lpstr>III – Investement strategy (optimizing) and testing</vt:lpstr>
      <vt:lpstr>Data source</vt:lpstr>
      <vt:lpstr>Online testing</vt:lpstr>
      <vt:lpstr>Deployment on AKS</vt:lpstr>
      <vt:lpstr>Demo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Benard, Florian</dc:creator>
  <cp:lastModifiedBy>Julien Delavande</cp:lastModifiedBy>
  <cp:revision>64</cp:revision>
  <dcterms:created xsi:type="dcterms:W3CDTF">2024-01-25T10:31:04Z</dcterms:created>
  <dcterms:modified xsi:type="dcterms:W3CDTF">2024-10-31T14:41:45Z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0x010100225F8FD53D4F3741B68DA7732C17FADC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